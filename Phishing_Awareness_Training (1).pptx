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4572" cy="51435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4572" cy="51435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4572" cy="51435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4572" cy="51435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4572" cy="51435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4572" cy="51435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4572" cy="51435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4572" cy="51435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4572" cy="51435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4572" cy="51435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4572" cy="51435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4572" cy="51435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4572" cy="51435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4572" cy="51435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4572" cy="51435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4572" cy="51435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4572" cy="51435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4572" cy="51435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4572" cy="51435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29768"/>
            <a:ext cx="9144000" cy="457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859536"/>
            <a:ext cx="9144000" cy="457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289304"/>
            <a:ext cx="9144000" cy="457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719072"/>
            <a:ext cx="9144000" cy="457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148840"/>
            <a:ext cx="9144000" cy="457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578608"/>
            <a:ext cx="9144000" cy="457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008376"/>
            <a:ext cx="9144000" cy="457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38144"/>
            <a:ext cx="9144000" cy="457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867912"/>
            <a:ext cx="9144000" cy="457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97680"/>
            <a:ext cx="9144000" cy="457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727448"/>
            <a:ext cx="9144000" cy="457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6032" y="0"/>
            <a:ext cx="54864" cy="5143500"/>
          </a:xfrm>
          <a:prstGeom prst="rect">
            <a:avLst/>
          </a:prstGeom>
          <a:solidFill>
            <a:srgbClr val="AA2233"/>
          </a:solidFill>
          <a:ln w="12700">
            <a:solidFill>
              <a:srgbClr val="AA2233"/>
            </a:solidFill>
            <a:prstDash val="solid"/>
          </a:ln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05840"/>
            <a:ext cx="1645920" cy="164592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2423160" y="777240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spc="800" kern="0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PHISHING</a:t>
            </a:r>
            <a:endParaRPr lang="en-US" sz="5800" dirty="0"/>
          </a:p>
        </p:txBody>
      </p:sp>
      <p:sp>
        <p:nvSpPr>
          <p:cNvPr id="38" name="Text 35"/>
          <p:cNvSpPr/>
          <p:nvPr/>
        </p:nvSpPr>
        <p:spPr>
          <a:xfrm>
            <a:off x="2423160" y="1737360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AWARENESS TRAINING</a:t>
            </a:r>
            <a:endParaRPr lang="en-US" sz="2200" dirty="0"/>
          </a:p>
        </p:txBody>
      </p:sp>
      <p:sp>
        <p:nvSpPr>
          <p:cNvPr id="39" name="Shape 36"/>
          <p:cNvSpPr/>
          <p:nvPr/>
        </p:nvSpPr>
        <p:spPr>
          <a:xfrm>
            <a:off x="2423160" y="2468880"/>
            <a:ext cx="5943600" cy="3657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2423160" y="258775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spc="200" kern="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Recognize  ·  Resist  ·  Report</a:t>
            </a:r>
            <a:endParaRPr lang="en-US" sz="1500" dirty="0"/>
          </a:p>
        </p:txBody>
      </p:sp>
      <p:sp>
        <p:nvSpPr>
          <p:cNvPr id="41" name="Shape 38"/>
          <p:cNvSpPr/>
          <p:nvPr/>
        </p:nvSpPr>
        <p:spPr>
          <a:xfrm>
            <a:off x="0" y="4315968"/>
            <a:ext cx="91440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65760" y="43434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3.4B</a:t>
            </a:r>
            <a:endParaRPr lang="en-US" sz="2000" dirty="0"/>
          </a:p>
        </p:txBody>
      </p:sp>
      <p:sp>
        <p:nvSpPr>
          <p:cNvPr id="43" name="Text 40"/>
          <p:cNvSpPr/>
          <p:nvPr/>
        </p:nvSpPr>
        <p:spPr>
          <a:xfrm>
            <a:off x="365760" y="4736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Phishing emails/day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2560320" y="43434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91%</a:t>
            </a:r>
            <a:endParaRPr lang="en-US" sz="2000" dirty="0"/>
          </a:p>
        </p:txBody>
      </p:sp>
      <p:sp>
        <p:nvSpPr>
          <p:cNvPr id="45" name="Text 42"/>
          <p:cNvSpPr/>
          <p:nvPr/>
        </p:nvSpPr>
        <p:spPr>
          <a:xfrm>
            <a:off x="2560320" y="4736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Attacks start via email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4754880" y="43434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$17,700</a:t>
            </a:r>
            <a:endParaRPr lang="en-US" sz="2000" dirty="0"/>
          </a:p>
        </p:txBody>
      </p:sp>
      <p:sp>
        <p:nvSpPr>
          <p:cNvPr id="47" name="Text 44"/>
          <p:cNvSpPr/>
          <p:nvPr/>
        </p:nvSpPr>
        <p:spPr>
          <a:xfrm>
            <a:off x="4754880" y="4736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Lost per minute globally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6949440" y="43434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in 99</a:t>
            </a:r>
            <a:endParaRPr lang="en-US" sz="2000" dirty="0"/>
          </a:p>
        </p:txBody>
      </p:sp>
      <p:sp>
        <p:nvSpPr>
          <p:cNvPr id="49" name="Text 46"/>
          <p:cNvSpPr/>
          <p:nvPr/>
        </p:nvSpPr>
        <p:spPr>
          <a:xfrm>
            <a:off x="6949440" y="4736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Emails is phishing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029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36576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PHISHING?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621792"/>
            <a:ext cx="8412480" cy="1005840"/>
          </a:xfrm>
          <a:prstGeom prst="rect">
            <a:avLst/>
          </a:prstGeom>
          <a:solidFill>
            <a:srgbClr val="21262D"/>
          </a:solidFill>
          <a:ln w="1905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658368"/>
            <a:ext cx="8138160" cy="914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Phishing is a cyber attack where criminals impersonate trusted entities to steal sensitive information like passwords, credit card numbers, or install malware on your device.</a:t>
            </a:r>
            <a:endParaRPr lang="en-US" sz="13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3736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78308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name "Phishing" is a play on "fishing" — attackers cast a wide net hoping someone bites the bait.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65760" y="2487168"/>
            <a:ext cx="2606040" cy="2423160"/>
          </a:xfrm>
          <a:prstGeom prst="rect">
            <a:avLst/>
          </a:prstGeom>
          <a:solidFill>
            <a:srgbClr val="21262D"/>
          </a:solidFill>
          <a:ln w="1905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578608"/>
            <a:ext cx="566928" cy="5669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32004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Delivered Via Email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75488" y="3584448"/>
            <a:ext cx="237744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91% of all cyberattacks start with a phishing email targeting employees or individuals.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200400" y="2487168"/>
            <a:ext cx="2606040" cy="2423160"/>
          </a:xfrm>
          <a:prstGeom prst="rect">
            <a:avLst/>
          </a:prstGeom>
          <a:solidFill>
            <a:srgbClr val="21262D"/>
          </a:solidFill>
          <a:ln w="1905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2578608"/>
            <a:ext cx="566928" cy="56692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291840" y="32004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Identity Deception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310128" y="3584448"/>
            <a:ext cx="237744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Attackers disguise as banks, tech companies, HR departments, or even your CEO.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035040" y="2487168"/>
            <a:ext cx="2606040" cy="2423160"/>
          </a:xfrm>
          <a:prstGeom prst="rect">
            <a:avLst/>
          </a:prstGeom>
          <a:solidFill>
            <a:srgbClr val="21262D"/>
          </a:solidFill>
          <a:ln w="1905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2578608"/>
            <a:ext cx="566928" cy="56692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126480" y="32004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Goal: Steal Credentials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144768" y="3584448"/>
            <a:ext cx="237744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Attackers want passwords, financial data, SSNs, or to plant malware on your device.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0292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36576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 OF PHISHING ATTACKS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658368"/>
            <a:ext cx="2651760" cy="2029968"/>
          </a:xfrm>
          <a:prstGeom prst="rect">
            <a:avLst/>
          </a:prstGeom>
          <a:solidFill>
            <a:srgbClr val="21262D"/>
          </a:solidFill>
          <a:ln w="1905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658368"/>
            <a:ext cx="64008" cy="202996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144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4712" y="859536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Email Phishing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48056" y="1463040"/>
            <a:ext cx="2423160" cy="11155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Mass emails mimicking trusted brands, luring victims to fake login pages.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172968" y="658368"/>
            <a:ext cx="2651760" cy="2029968"/>
          </a:xfrm>
          <a:prstGeom prst="rect">
            <a:avLst/>
          </a:prstGeom>
          <a:solidFill>
            <a:srgbClr val="21262D"/>
          </a:solidFill>
          <a:ln w="1905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72968" y="658368"/>
            <a:ext cx="64008" cy="202996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91440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77640" y="859536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Spear Phishing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300984" y="1463040"/>
            <a:ext cx="2423160" cy="11155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Targeted attacks using personal details to impersonate known contacts.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25896" y="658368"/>
            <a:ext cx="2651760" cy="2029968"/>
          </a:xfrm>
          <a:prstGeom prst="rect">
            <a:avLst/>
          </a:prstGeom>
          <a:solidFill>
            <a:srgbClr val="21262D"/>
          </a:solidFill>
          <a:ln w="1905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25896" y="658368"/>
            <a:ext cx="64008" cy="20299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76" y="91440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30568" y="859536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Whaling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153912" y="1463040"/>
            <a:ext cx="2423160" cy="11155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Targets C-suite executives (CEO/CFO) for high-value financial fraud.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320040" y="2834640"/>
            <a:ext cx="2651760" cy="2029968"/>
          </a:xfrm>
          <a:prstGeom prst="rect">
            <a:avLst/>
          </a:prstGeom>
          <a:solidFill>
            <a:srgbClr val="21262D"/>
          </a:solidFill>
          <a:ln w="19050">
            <a:solidFill>
              <a:srgbClr val="1ABC9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20040" y="2834640"/>
            <a:ext cx="64008" cy="20299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090672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24712" y="303580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Smishing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48056" y="3639312"/>
            <a:ext cx="2423160" cy="11155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Phishing via SMS text messages with malicious links or urgent requests.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172968" y="2834640"/>
            <a:ext cx="2651760" cy="2029968"/>
          </a:xfrm>
          <a:prstGeom prst="rect">
            <a:avLst/>
          </a:prstGeom>
          <a:solidFill>
            <a:srgbClr val="21262D"/>
          </a:solidFill>
          <a:ln w="19050">
            <a:solidFill>
              <a:srgbClr val="F8C3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172968" y="2834640"/>
            <a:ext cx="64008" cy="2029968"/>
          </a:xfrm>
          <a:prstGeom prst="rect">
            <a:avLst/>
          </a:prstGeom>
          <a:solidFill>
            <a:srgbClr val="F8C300"/>
          </a:solidFill>
          <a:ln w="12700">
            <a:solidFill>
              <a:srgbClr val="F8C300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5848" y="3090672"/>
            <a:ext cx="502920" cy="5029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77640" y="303580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C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Vishing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300984" y="3639312"/>
            <a:ext cx="2423160" cy="11155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Voice call fraud impersonating banks, IRS, or tech support departments.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025896" y="2834640"/>
            <a:ext cx="2651760" cy="2029968"/>
          </a:xfrm>
          <a:prstGeom prst="rect">
            <a:avLst/>
          </a:prstGeom>
          <a:solidFill>
            <a:srgbClr val="21262D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025896" y="2834640"/>
            <a:ext cx="64008" cy="202996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8776" y="3090672"/>
            <a:ext cx="502920" cy="5029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830568" y="303580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Pharming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153912" y="3639312"/>
            <a:ext cx="2423160" cy="11155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DNS poisoning that redirects users to fake sites even with correct URLs.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02920"/>
          </a:xfrm>
          <a:prstGeom prst="rect">
            <a:avLst/>
          </a:prstGeom>
          <a:solidFill>
            <a:srgbClr val="F8C300"/>
          </a:solidFill>
          <a:ln w="12700">
            <a:solidFill>
              <a:srgbClr val="F8C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36576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RECOGNIZE A PHISHING EMAIL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92608" y="621792"/>
            <a:ext cx="4133088" cy="4315968"/>
          </a:xfrm>
          <a:prstGeom prst="rect">
            <a:avLst/>
          </a:prstGeom>
          <a:solidFill>
            <a:srgbClr val="21262D"/>
          </a:solidFill>
          <a:ln w="1905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21792"/>
            <a:ext cx="4133088" cy="40233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640080"/>
            <a:ext cx="40233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📧  Suspicious Email — Example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4048" y="11155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60704" y="111556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security@paypa1.com ⚠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14173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60704" y="141732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you@yourcompany.com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17190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Subj: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60704" y="171907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8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URGENT: Account Suspended!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2048256"/>
            <a:ext cx="3840480" cy="9144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103120"/>
            <a:ext cx="3794760" cy="1508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Dear Customer,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detected suspicious activity. Your account will be PERMANENTLY SUSPENDED unless you verify your details within 2 hours.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Click the button below immediately: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005840" y="3730752"/>
            <a:ext cx="1920240" cy="34747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7307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 NOW →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" y="41605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http://paypa1-secure.xyz/verify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45152" y="603504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8C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 FLAGS TO SPOT: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45152" y="1024128"/>
            <a:ext cx="4178808" cy="548640"/>
          </a:xfrm>
          <a:prstGeom prst="rect">
            <a:avLst/>
          </a:prstGeom>
          <a:solidFill>
            <a:srgbClr val="21262D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45152" y="1024128"/>
            <a:ext cx="54864" cy="5486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15568"/>
            <a:ext cx="365760" cy="36576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230368" y="1078992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Suspicious sender domain (paypa1 vs paypal)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645152" y="1682496"/>
            <a:ext cx="4178808" cy="548640"/>
          </a:xfrm>
          <a:prstGeom prst="rect">
            <a:avLst/>
          </a:prstGeom>
          <a:solidFill>
            <a:srgbClr val="21262D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645152" y="1682496"/>
            <a:ext cx="54864" cy="54864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73936"/>
            <a:ext cx="365760" cy="36576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230368" y="1737360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Urgent / threatening language creates panic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645152" y="2340864"/>
            <a:ext cx="4178808" cy="548640"/>
          </a:xfrm>
          <a:prstGeom prst="rect">
            <a:avLst/>
          </a:prstGeom>
          <a:solidFill>
            <a:srgbClr val="21262D"/>
          </a:solidFill>
          <a:ln w="12700">
            <a:solidFill>
              <a:srgbClr val="F8C300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645152" y="2340864"/>
            <a:ext cx="54864" cy="548640"/>
          </a:xfrm>
          <a:prstGeom prst="rect">
            <a:avLst/>
          </a:prstGeom>
          <a:solidFill>
            <a:srgbClr val="F8C300"/>
          </a:solidFill>
          <a:ln w="12700">
            <a:solidFill>
              <a:srgbClr val="F8C300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432304"/>
            <a:ext cx="365760" cy="36576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230368" y="2395728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Hover over links — check destination URL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4645152" y="2999232"/>
            <a:ext cx="4178808" cy="548640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4645152" y="2999232"/>
            <a:ext cx="54864" cy="5486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090672"/>
            <a:ext cx="365760" cy="36576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230368" y="3054096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Generic greeting — no personal details used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4645152" y="3657600"/>
            <a:ext cx="4178808" cy="548640"/>
          </a:xfrm>
          <a:prstGeom prst="rect">
            <a:avLst/>
          </a:prstGeom>
          <a:solidFill>
            <a:srgbClr val="21262D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4645152" y="3657600"/>
            <a:ext cx="54864" cy="5486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749040"/>
            <a:ext cx="365760" cy="36576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5230368" y="3712464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Requests for sensitive info or credentials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4645152" y="4315968"/>
            <a:ext cx="4178808" cy="548640"/>
          </a:xfrm>
          <a:prstGeom prst="rect">
            <a:avLst/>
          </a:prstGeom>
          <a:solidFill>
            <a:srgbClr val="21262D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4645152" y="4315968"/>
            <a:ext cx="54864" cy="5486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4407408"/>
            <a:ext cx="365760" cy="36576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5230368" y="4370832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Grammar errors and unusual formatting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029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36576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SPOTTING FAKE WEBSITES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57607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ALWAYS INSPECT THE URL BAR BEFORE ENTERING ANY CREDENTIALS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4160520" cy="594360"/>
          </a:xfrm>
          <a:prstGeom prst="rect">
            <a:avLst/>
          </a:prstGeom>
          <a:solidFill>
            <a:srgbClr val="0D2818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058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REAL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" y="12801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https://www.paypal.com/login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987552"/>
            <a:ext cx="4160520" cy="594360"/>
          </a:xfrm>
          <a:prstGeom prst="rect">
            <a:avLst/>
          </a:prstGeom>
          <a:solidFill>
            <a:srgbClr val="2B0A0A"/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3752" y="10058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 FAKE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73752" y="12801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https://paypa1.com-secure-login.xyz/verify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1719072"/>
            <a:ext cx="2029968" cy="3127248"/>
          </a:xfrm>
          <a:prstGeom prst="rect">
            <a:avLst/>
          </a:prstGeom>
          <a:solidFill>
            <a:srgbClr val="21262D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810512"/>
            <a:ext cx="566928" cy="56692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93192" y="2432304"/>
            <a:ext cx="1883664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HTTPS + Padlock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93192" y="2926080"/>
            <a:ext cx="1883664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Legit sites use HTTPS — but phishing sites can too. It's necessary but not proof of safety on its own.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487168" y="1719072"/>
            <a:ext cx="2029968" cy="3127248"/>
          </a:xfrm>
          <a:prstGeom prst="rect">
            <a:avLst/>
          </a:prstGeom>
          <a:solidFill>
            <a:srgbClr val="21262D"/>
          </a:solidFill>
          <a:ln w="1905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1810512"/>
            <a:ext cx="566928" cy="56692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560320" y="2432304"/>
            <a:ext cx="1883664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Examine the Domain Name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560320" y="2926080"/>
            <a:ext cx="1883664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Look for misspellings (paypa1, g00gle), extra subdomains (paypal.evil.com), or unusual extensions (.xyz, .tk).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654296" y="1719072"/>
            <a:ext cx="2029968" cy="3127248"/>
          </a:xfrm>
          <a:prstGeom prst="rect">
            <a:avLst/>
          </a:prstGeom>
          <a:solidFill>
            <a:srgbClr val="21262D"/>
          </a:solidFill>
          <a:ln w="1905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816" y="1810512"/>
            <a:ext cx="566928" cy="56692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27448" y="2432304"/>
            <a:ext cx="1883664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8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Website Quality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727448" y="2926080"/>
            <a:ext cx="1883664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Low-quality images, broken layout, missing contact info, or too-good-to-be-true offers are clear warning signs.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821424" y="1719072"/>
            <a:ext cx="2029968" cy="3127248"/>
          </a:xfrm>
          <a:prstGeom prst="rect">
            <a:avLst/>
          </a:prstGeom>
          <a:solidFill>
            <a:srgbClr val="21262D"/>
          </a:solidFill>
          <a:ln w="19050">
            <a:solidFill>
              <a:srgbClr val="1ABC9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2944" y="1810512"/>
            <a:ext cx="566928" cy="56692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894576" y="2432304"/>
            <a:ext cx="1883664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 SSL Certificate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894576" y="2926080"/>
            <a:ext cx="1883664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Click the padlock to view the certificate. The organization name should exactly match who you expect.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320040" y="4718304"/>
            <a:ext cx="850392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438912" y="47365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PRO TIP: Bookmark trusted sites (bank, email) and always navigate from bookmarks — never from links in emails.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0292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36576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SOCIAL ENGINEERING TACTICS USED BY ATTACKERS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621792"/>
            <a:ext cx="8503920" cy="1005840"/>
          </a:xfrm>
          <a:prstGeom prst="rect">
            <a:avLst/>
          </a:prstGeom>
          <a:solidFill>
            <a:srgbClr val="21262D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621792"/>
            <a:ext cx="64008" cy="10058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85039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07008" y="6858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Urgency &amp; Scarcity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07008" y="104241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"Your account will be deleted in 24 hours!" — Creates panic so you act without thinking.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17720" y="713232"/>
            <a:ext cx="4069080" cy="804672"/>
          </a:xfrm>
          <a:prstGeom prst="rect">
            <a:avLst/>
          </a:prstGeom>
          <a:solidFill>
            <a:srgbClr val="1A1A1A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09160" y="731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Example: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709160" y="969264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"IMMEDIATE ACTION REQUIRED: Verify now or permanently lose access!"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0040" y="1700784"/>
            <a:ext cx="8503920" cy="1005840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" y="1700784"/>
            <a:ext cx="64008" cy="10058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9384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07008" y="17647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Authority Impersonation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207008" y="212140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Pretending to be your CEO, IT department, IRS, or a trusted brand to gain instant compliance.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617720" y="1792224"/>
            <a:ext cx="4069080" cy="804672"/>
          </a:xfrm>
          <a:prstGeom prst="rect">
            <a:avLst/>
          </a:prstGeom>
          <a:solidFill>
            <a:srgbClr val="1A1A1A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709160" y="18105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Example: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709160" y="2048256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"This is your IT team. Your password must be reset immediately."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320040" y="2779776"/>
            <a:ext cx="8503920" cy="1005840"/>
          </a:xfrm>
          <a:prstGeom prst="rect">
            <a:avLst/>
          </a:prstGeom>
          <a:solidFill>
            <a:srgbClr val="21262D"/>
          </a:solidFill>
          <a:ln w="12700">
            <a:solidFill>
              <a:srgbClr val="F0883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4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20040" y="2779776"/>
            <a:ext cx="64008" cy="100584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08376"/>
            <a:ext cx="502920" cy="5029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207008" y="28437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8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Familiarity &amp; Trust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1207008" y="3200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your name or colleague names gathered from social media to appear legitimate.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4617720" y="2871216"/>
            <a:ext cx="4069080" cy="804672"/>
          </a:xfrm>
          <a:prstGeom prst="rect">
            <a:avLst/>
          </a:prstGeom>
          <a:solidFill>
            <a:srgbClr val="1A1A1A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709160" y="288950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8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Example: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4709160" y="312724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"Hi John, your manager Sarah asked me to forward you this document."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320040" y="3858768"/>
            <a:ext cx="8503920" cy="1005840"/>
          </a:xfrm>
          <a:prstGeom prst="rect">
            <a:avLst/>
          </a:prstGeom>
          <a:solidFill>
            <a:srgbClr val="21262D"/>
          </a:solidFill>
          <a:ln w="12700">
            <a:solidFill>
              <a:srgbClr val="1ABC9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4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320040" y="3858768"/>
            <a:ext cx="64008" cy="10058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087368"/>
            <a:ext cx="502920" cy="50292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207008" y="39227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Reward &amp; Fear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1207008" y="42793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Promising prizes and refunds, or threatening legal action and account suspension.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4617720" y="3950208"/>
            <a:ext cx="4069080" cy="8046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4709160" y="396849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Example: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4709160" y="420624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"You've won a $500 Amazon gift card! Claim before it expires today!"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029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36576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PHISHING INCIDENTS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"/>
            <a:ext cx="8503920" cy="1371600"/>
          </a:xfrm>
          <a:prstGeom prst="rect">
            <a:avLst/>
          </a:prstGeom>
          <a:solidFill>
            <a:srgbClr val="21262D"/>
          </a:solidFill>
          <a:ln w="1905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640080"/>
            <a:ext cx="1005840" cy="13716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3152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2016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1207008"/>
            <a:ext cx="10058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Spear Phishing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417320" y="7132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Democratic National Committee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17320" y="1060704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fake Google password-reset email tricked campaign chairman John Podesta into surrendering credentials, causing a massive political data breach.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89320" y="749808"/>
            <a:ext cx="2651760" cy="1115568"/>
          </a:xfrm>
          <a:prstGeom prst="rect">
            <a:avLst/>
          </a:prstGeom>
          <a:solidFill>
            <a:srgbClr val="161B22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7680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LESSON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80760" y="1042416"/>
            <a:ext cx="246888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 tech-savvy people fall for convincing fakes. Always verify password resets via phone.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121408"/>
            <a:ext cx="8503920" cy="1371600"/>
          </a:xfrm>
          <a:prstGeom prst="rect">
            <a:avLst/>
          </a:prstGeom>
          <a:solidFill>
            <a:srgbClr val="21262D"/>
          </a:solidFill>
          <a:ln w="1905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121408"/>
            <a:ext cx="1005840" cy="13716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21284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0040" y="2688336"/>
            <a:ext cx="10058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Vishing + Social Eng.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417320" y="21945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Twitter — Crypto Hack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2542032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Attackers called Twitter employees posing as IT staff, obtained admin credentials, and hijacked 130 high-profile accounts including Obama, Elon Musk, and Apple.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89320" y="2231136"/>
            <a:ext cx="2651760" cy="111556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22494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LESSON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80760" y="2523744"/>
            <a:ext cx="246888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will NEVER ask for your password by phone. Always call back on a known number.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3602736"/>
            <a:ext cx="8503920" cy="1371600"/>
          </a:xfrm>
          <a:prstGeom prst="rect">
            <a:avLst/>
          </a:prstGeom>
          <a:solidFill>
            <a:srgbClr val="21262D"/>
          </a:solidFill>
          <a:ln w="1905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602736"/>
            <a:ext cx="1005840" cy="137160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69417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20040" y="4169664"/>
            <a:ext cx="10058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MFA Fatigue Attack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417320" y="367588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8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Uber — Network Breach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17320" y="4023360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attacker impersonated Uber IT and bombarded an employee with MFA push notifications until they approved one out of frustration, granting full network access.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89320" y="3712464"/>
            <a:ext cx="2651760" cy="1115568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80760" y="3730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8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LESSON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80760" y="4005072"/>
            <a:ext cx="246888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 unexpected MFA prompts immediately. Never approve authentication you didn't initiate.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029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36576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PRACTICES TO STAY PROTECTED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658368"/>
            <a:ext cx="2651760" cy="2029968"/>
          </a:xfrm>
          <a:prstGeom prst="rect">
            <a:avLst/>
          </a:prstGeom>
          <a:solidFill>
            <a:srgbClr val="21262D"/>
          </a:solidFill>
          <a:ln w="1905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658368"/>
            <a:ext cx="2651760" cy="640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84124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8229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 Before You Click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9768" y="1408176"/>
            <a:ext cx="2432304" cy="12070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Hover over links to preview the destination URL. When unsure, navigate directly to the website by typing it yourself.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172968" y="658368"/>
            <a:ext cx="2651760" cy="2029968"/>
          </a:xfrm>
          <a:prstGeom prst="rect">
            <a:avLst/>
          </a:prstGeom>
          <a:solidFill>
            <a:srgbClr val="21262D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72968" y="658368"/>
            <a:ext cx="2651760" cy="640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84124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04488" y="8229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Enable MFA on All Accounts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282696" y="1408176"/>
            <a:ext cx="2432304" cy="12070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MFA adds a critical second layer. Even if your password is stolen, attackers can't log in without the second factor.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25896" y="658368"/>
            <a:ext cx="2651760" cy="2029968"/>
          </a:xfrm>
          <a:prstGeom prst="rect">
            <a:avLst/>
          </a:prstGeom>
          <a:solidFill>
            <a:srgbClr val="21262D"/>
          </a:solidFill>
          <a:ln w="1905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25896" y="658368"/>
            <a:ext cx="2651760" cy="6400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84124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57416" y="8229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8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a Password Manager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135624" y="1408176"/>
            <a:ext cx="2432304" cy="12070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Password managers autofill only on the correct domain, blocking you from submitting credentials to fake lookalike sites.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20040" y="2834640"/>
            <a:ext cx="2651760" cy="2029968"/>
          </a:xfrm>
          <a:prstGeom prst="rect">
            <a:avLst/>
          </a:prstGeom>
          <a:solidFill>
            <a:srgbClr val="21262D"/>
          </a:solidFill>
          <a:ln w="1905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20040" y="2834640"/>
            <a:ext cx="2651760" cy="6400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" y="301752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51560" y="29992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 Suspicious Emails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29768" y="3584448"/>
            <a:ext cx="2432304" cy="12070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your email client's 'Report Phishing' button. Alerting your IT security team protects the entire organisation.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172968" y="2834640"/>
            <a:ext cx="2651760" cy="2029968"/>
          </a:xfrm>
          <a:prstGeom prst="rect">
            <a:avLst/>
          </a:prstGeom>
          <a:solidFill>
            <a:srgbClr val="21262D"/>
          </a:solidFill>
          <a:ln w="19050">
            <a:solidFill>
              <a:srgbClr val="1ABC9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172968" y="2834640"/>
            <a:ext cx="2651760" cy="640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9272" y="3017520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04488" y="29992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 All Software Updated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3282696" y="3584448"/>
            <a:ext cx="2432304" cy="12070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Phishing attacks exploit browser and OS vulnerabilities. Regular updates close these security gaps automatically.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025896" y="2834640"/>
            <a:ext cx="2651760" cy="2029968"/>
          </a:xfrm>
          <a:prstGeom prst="rect">
            <a:avLst/>
          </a:prstGeom>
          <a:solidFill>
            <a:srgbClr val="21262D"/>
          </a:solidFill>
          <a:ln w="19050">
            <a:solidFill>
              <a:srgbClr val="F8C3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025896" y="2834640"/>
            <a:ext cx="2651760" cy="64008"/>
          </a:xfrm>
          <a:prstGeom prst="rect">
            <a:avLst/>
          </a:prstGeom>
          <a:solidFill>
            <a:srgbClr val="F8C300"/>
          </a:solidFill>
          <a:ln w="12700">
            <a:solidFill>
              <a:srgbClr val="F8C300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3017520"/>
            <a:ext cx="457200" cy="4572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57416" y="29992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C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Ongoing Security Awareness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6135624" y="3584448"/>
            <a:ext cx="2432304" cy="12070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Participate in phishing simulation exercises. New and sophisticated attack techniques are constantly emerging.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029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36576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CHECK — QUIZ TIME!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7315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640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1 OF 3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20040" y="1042416"/>
            <a:ext cx="8503920" cy="914400"/>
          </a:xfrm>
          <a:prstGeom prst="rect">
            <a:avLst/>
          </a:prstGeom>
          <a:solidFill>
            <a:srgbClr val="21262D"/>
          </a:solidFill>
          <a:ln w="19050">
            <a:solidFill>
              <a:srgbClr val="1ABC9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1097280"/>
            <a:ext cx="8229600" cy="8046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receive an email from security@paypa1.com saying your PayPal account will be suspended unless you click a link and verify your info within 2 hours. What do you do?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0040" y="2075688"/>
            <a:ext cx="850392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0040" y="2075688"/>
            <a:ext cx="502920" cy="53035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207568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60120" y="2121408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Click the link immediately to avoid account suspension.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040" y="2688336"/>
            <a:ext cx="850392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0040" y="2688336"/>
            <a:ext cx="502920" cy="53035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2688336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60120" y="2734056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Forward the email to friends to warn them.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0040" y="3300984"/>
            <a:ext cx="8503920" cy="530352"/>
          </a:xfrm>
          <a:prstGeom prst="rect">
            <a:avLst/>
          </a:prstGeom>
          <a:solidFill>
            <a:srgbClr val="0D2818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0040" y="3300984"/>
            <a:ext cx="502920" cy="5303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" y="3300984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60120" y="3346704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 directly to PayPal.com by typing it in your browser and check your account there.</a:t>
            </a:r>
            <a:endParaRPr lang="en-US" sz="11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632" y="3392424"/>
            <a:ext cx="320040" cy="32004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320040" y="3913632"/>
            <a:ext cx="850392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20040" y="3913632"/>
            <a:ext cx="502920" cy="53035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20040" y="3913632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960120" y="3959352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Reply to the email to ask if it is legitimate.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320040" y="4791456"/>
            <a:ext cx="8503920" cy="292608"/>
          </a:xfrm>
          <a:prstGeom prst="rect">
            <a:avLst/>
          </a:prstGeom>
          <a:solidFill>
            <a:srgbClr val="0D281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38912" y="480974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CORRECT ANSWER: C — Never click links in emails. Navigate directly to the official website by typing it yourself.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029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36576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CHECK — QUIZ TIME!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7315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640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2 OF 3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20040" y="1042416"/>
            <a:ext cx="8503920" cy="914400"/>
          </a:xfrm>
          <a:prstGeom prst="rect">
            <a:avLst/>
          </a:prstGeom>
          <a:solidFill>
            <a:srgbClr val="21262D"/>
          </a:solidFill>
          <a:ln w="1905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1097280"/>
            <a:ext cx="8229600" cy="8046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is the MOST reliable sign that a website is safe to enter your password on?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0040" y="2075688"/>
            <a:ext cx="850392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0040" y="2075688"/>
            <a:ext cx="502920" cy="53035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207568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60120" y="2121408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site has a padlock icon (HTTPS) in the browser address bar.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040" y="2688336"/>
            <a:ext cx="8503920" cy="530352"/>
          </a:xfrm>
          <a:prstGeom prst="rect">
            <a:avLst/>
          </a:prstGeom>
          <a:solidFill>
            <a:srgbClr val="0D2818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0040" y="2688336"/>
            <a:ext cx="502920" cy="5303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2688336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60120" y="2734056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URL exactly matches the official domain you have bookmarked and verified previously.</a:t>
            </a:r>
            <a:endParaRPr lang="en-US" sz="11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632" y="2779776"/>
            <a:ext cx="320040" cy="32004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20040" y="3300984"/>
            <a:ext cx="850392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20040" y="3300984"/>
            <a:ext cx="502920" cy="53035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20040" y="3300984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960120" y="3346704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website looks professional and well-designed.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20040" y="3913632"/>
            <a:ext cx="850392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20040" y="3913632"/>
            <a:ext cx="502920" cy="53035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20040" y="3913632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960120" y="3959352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received a link to it from a trusted-looking email.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320040" y="4791456"/>
            <a:ext cx="8503920" cy="292608"/>
          </a:xfrm>
          <a:prstGeom prst="rect">
            <a:avLst/>
          </a:prstGeom>
          <a:solidFill>
            <a:srgbClr val="0D281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38912" y="480974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CORRECT ANSWER: B — HTTPS alone is insufficient; phishing sites can also have it. Always verify the exact domain name.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0292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36576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CHECK — QUIZ TIME!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7315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640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08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3 OF 3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20040" y="1042416"/>
            <a:ext cx="8503920" cy="914400"/>
          </a:xfrm>
          <a:prstGeom prst="rect">
            <a:avLst/>
          </a:prstGeom>
          <a:solidFill>
            <a:srgbClr val="21262D"/>
          </a:solidFill>
          <a:ln w="1905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1097280"/>
            <a:ext cx="8229600" cy="8046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CEO emails you urgently asking for 10 gift card codes for client rewards. They say they're in a meeting and cannot talk. What type of attack is this most likely to be?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0040" y="2075688"/>
            <a:ext cx="850392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0040" y="2075688"/>
            <a:ext cx="502920" cy="53035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207568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60120" y="2121408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Smishing — a text-message-based phishing attack.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040" y="2688336"/>
            <a:ext cx="850392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0040" y="2688336"/>
            <a:ext cx="502920" cy="53035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2688336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60120" y="2734056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Pharming — redirecting web traffic to fraudulent websites.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0040" y="3300984"/>
            <a:ext cx="8503920" cy="530352"/>
          </a:xfrm>
          <a:prstGeom prst="rect">
            <a:avLst/>
          </a:prstGeom>
          <a:solidFill>
            <a:srgbClr val="0D2818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0040" y="3300984"/>
            <a:ext cx="502920" cy="5303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" y="3300984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60120" y="3346704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Whaling / CEO Fraud — impersonating an executive to authorise fraudulent transactions.</a:t>
            </a:r>
            <a:endParaRPr lang="en-US" sz="11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632" y="3392424"/>
            <a:ext cx="320040" cy="32004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320040" y="3913632"/>
            <a:ext cx="850392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20040" y="3913632"/>
            <a:ext cx="502920" cy="53035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20040" y="3913632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960120" y="3959352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Vishing — voice call impersonation phishing.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320040" y="4791456"/>
            <a:ext cx="8503920" cy="292608"/>
          </a:xfrm>
          <a:prstGeom prst="rect">
            <a:avLst/>
          </a:prstGeom>
          <a:solidFill>
            <a:srgbClr val="0D281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38912" y="480974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CORRECT ANSWER: C — Always verify unusual financial requests via a separate known phone number. Never act on email alone.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300" kern="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PHISHING DEFENSE CHECKLIST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8503920" cy="493776"/>
          </a:xfrm>
          <a:prstGeom prst="rect">
            <a:avLst/>
          </a:prstGeom>
          <a:solidFill>
            <a:srgbClr val="161B22"/>
          </a:solidFill>
          <a:ln w="6350">
            <a:solidFill>
              <a:srgbClr val="3FB95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68096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" y="731520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 sender email addresses carefully — look for misspellings or unusual domains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20040" y="1252728"/>
            <a:ext cx="8503920" cy="493776"/>
          </a:xfrm>
          <a:prstGeom prst="rect">
            <a:avLst/>
          </a:prstGeom>
          <a:solidFill>
            <a:srgbClr val="21262D"/>
          </a:solidFill>
          <a:ln w="6350">
            <a:solidFill>
              <a:srgbClr val="3FB95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35024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32688" y="129844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Hover over links before clicking — confirm the destination URL matches what you expect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320040" y="1819656"/>
            <a:ext cx="8503920" cy="493776"/>
          </a:xfrm>
          <a:prstGeom prst="rect">
            <a:avLst/>
          </a:prstGeom>
          <a:solidFill>
            <a:srgbClr val="161B22"/>
          </a:solidFill>
          <a:ln w="6350">
            <a:solidFill>
              <a:srgbClr val="3FB950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01952"/>
            <a:ext cx="329184" cy="3291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32688" y="1865376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Never provide passwords or sensitive info via email, even to apparent colleagues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320040" y="2386584"/>
            <a:ext cx="8503920" cy="493776"/>
          </a:xfrm>
          <a:prstGeom prst="rect">
            <a:avLst/>
          </a:prstGeom>
          <a:solidFill>
            <a:srgbClr val="21262D"/>
          </a:solidFill>
          <a:ln w="6350">
            <a:solidFill>
              <a:srgbClr val="3FB950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468880"/>
            <a:ext cx="329184" cy="32918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32688" y="243230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Enable MFA on all critical accounts: email, banking, and work systems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320040" y="2953512"/>
            <a:ext cx="8503920" cy="493776"/>
          </a:xfrm>
          <a:prstGeom prst="rect">
            <a:avLst/>
          </a:prstGeom>
          <a:solidFill>
            <a:srgbClr val="161B22"/>
          </a:solidFill>
          <a:ln w="6350">
            <a:solidFill>
              <a:srgbClr val="3FB950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035808"/>
            <a:ext cx="329184" cy="32918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32688" y="2999232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 suspicious emails to your IT/security team immediately — don't just delete them</a:t>
            </a:r>
            <a:endParaRPr lang="en-US" sz="1150" dirty="0"/>
          </a:p>
        </p:txBody>
      </p:sp>
      <p:sp>
        <p:nvSpPr>
          <p:cNvPr id="19" name="Shape 12"/>
          <p:cNvSpPr/>
          <p:nvPr/>
        </p:nvSpPr>
        <p:spPr>
          <a:xfrm>
            <a:off x="320040" y="3520440"/>
            <a:ext cx="8503920" cy="493776"/>
          </a:xfrm>
          <a:prstGeom prst="rect">
            <a:avLst/>
          </a:prstGeom>
          <a:solidFill>
            <a:srgbClr val="21262D"/>
          </a:solidFill>
          <a:ln w="6350">
            <a:solidFill>
              <a:srgbClr val="3FB950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602736"/>
            <a:ext cx="329184" cy="32918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32688" y="3566160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 unusual financial requests via a known phone number — never by email alone</a:t>
            </a:r>
            <a:endParaRPr lang="en-US" sz="1150" dirty="0"/>
          </a:p>
        </p:txBody>
      </p:sp>
      <p:sp>
        <p:nvSpPr>
          <p:cNvPr id="22" name="Shape 14"/>
          <p:cNvSpPr/>
          <p:nvPr/>
        </p:nvSpPr>
        <p:spPr>
          <a:xfrm>
            <a:off x="0" y="4270248"/>
            <a:ext cx="9144000" cy="87782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365760" y="4297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500" kern="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STOP  ·  THINK  ·  VERIFY  ·  REPORT</a:t>
            </a:r>
            <a:endParaRPr lang="en-US" sz="2400" dirty="0"/>
          </a:p>
        </p:txBody>
      </p:sp>
      <p:sp>
        <p:nvSpPr>
          <p:cNvPr id="24" name="Text 16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CC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in doubt — don't click. Contact your security team.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PptxGenJS Presentation</dc:subject>
  <dc:creator>PptxGenJS</dc:creator>
  <cp:lastModifiedBy>PptxGenJS</cp:lastModifiedBy>
  <cp:revision>1</cp:revision>
  <dcterms:created xsi:type="dcterms:W3CDTF">2026-03-16T17:00:35Z</dcterms:created>
  <dcterms:modified xsi:type="dcterms:W3CDTF">2026-03-16T17:00:35Z</dcterms:modified>
</cp:coreProperties>
</file>